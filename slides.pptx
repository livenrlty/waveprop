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417" r:id="rId2"/>
    <p:sldId id="415" r:id="rId3"/>
    <p:sldId id="416" r:id="rId4"/>
    <p:sldId id="421" r:id="rId5"/>
    <p:sldId id="418" r:id="rId6"/>
    <p:sldId id="422" r:id="rId7"/>
    <p:sldId id="423" r:id="rId8"/>
    <p:sldId id="420" r:id="rId9"/>
  </p:sldIdLst>
  <p:sldSz cx="9144000" cy="6858000" type="screen4x3"/>
  <p:notesSz cx="6797675" cy="9874250"/>
  <p:defaultTextStyle>
    <a:defPPr>
      <a:defRPr lang="ru-R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FF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400" autoAdjust="0"/>
  </p:normalViewPr>
  <p:slideViewPr>
    <p:cSldViewPr>
      <p:cViewPr varScale="1">
        <p:scale>
          <a:sx n="73" d="100"/>
          <a:sy n="73" d="100"/>
        </p:scale>
        <p:origin x="1435"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6A0BB194-7A03-4E71-903D-25F36DAEABAF}" type="datetimeFigureOut">
              <a:rPr lang="ru-RU" smtClean="0"/>
              <a:t>22.11.2020</a:t>
            </a:fld>
            <a:endParaRPr lang="ru-RU"/>
          </a:p>
        </p:txBody>
      </p:sp>
      <p:sp>
        <p:nvSpPr>
          <p:cNvPr id="4" name="Нижний колонтитул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8AFF2DE5-9FB3-4E92-80B7-1C4D9CA7B20C}" type="slidenum">
              <a:rPr lang="ru-RU" smtClean="0"/>
              <a:t>‹#›</a:t>
            </a:fld>
            <a:endParaRPr lang="ru-RU"/>
          </a:p>
        </p:txBody>
      </p:sp>
    </p:spTree>
    <p:extLst>
      <p:ext uri="{BB962C8B-B14F-4D97-AF65-F5344CB8AC3E}">
        <p14:creationId xmlns:p14="http://schemas.microsoft.com/office/powerpoint/2010/main" val="37891907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7B025F1A-BA60-443A-8512-72CFCEA51D69}" type="datetimeFigureOut">
              <a:rPr lang="ru-RU" smtClean="0"/>
              <a:t>22.11.2020</a:t>
            </a:fld>
            <a:endParaRPr lang="ru-RU"/>
          </a:p>
        </p:txBody>
      </p:sp>
      <p:sp>
        <p:nvSpPr>
          <p:cNvPr id="4" name="Образ слайда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1423A846-2295-4795-AC2C-324D745BF0B2}" type="slidenum">
              <a:rPr lang="ru-RU" smtClean="0"/>
              <a:t>‹#›</a:t>
            </a:fld>
            <a:endParaRPr lang="ru-RU"/>
          </a:p>
        </p:txBody>
      </p:sp>
    </p:spTree>
    <p:extLst>
      <p:ext uri="{BB962C8B-B14F-4D97-AF65-F5344CB8AC3E}">
        <p14:creationId xmlns:p14="http://schemas.microsoft.com/office/powerpoint/2010/main" val="877701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76338" y="1233488"/>
            <a:ext cx="4445000" cy="333375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423A846-2295-4795-AC2C-324D745BF0B2}" type="slidenum">
              <a:rPr lang="ru-RU" smtClean="0"/>
              <a:t>2</a:t>
            </a:fld>
            <a:endParaRPr lang="ru-RU"/>
          </a:p>
        </p:txBody>
      </p:sp>
    </p:spTree>
    <p:extLst>
      <p:ext uri="{BB962C8B-B14F-4D97-AF65-F5344CB8AC3E}">
        <p14:creationId xmlns:p14="http://schemas.microsoft.com/office/powerpoint/2010/main" val="1421178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76338" y="1233488"/>
            <a:ext cx="4445000" cy="333375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423A846-2295-4795-AC2C-324D745BF0B2}" type="slidenum">
              <a:rPr lang="ru-RU" smtClean="0"/>
              <a:t>3</a:t>
            </a:fld>
            <a:endParaRPr lang="ru-RU"/>
          </a:p>
        </p:txBody>
      </p:sp>
    </p:spTree>
    <p:extLst>
      <p:ext uri="{BB962C8B-B14F-4D97-AF65-F5344CB8AC3E}">
        <p14:creationId xmlns:p14="http://schemas.microsoft.com/office/powerpoint/2010/main" val="3166736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76338" y="1233488"/>
            <a:ext cx="4445000" cy="333375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423A846-2295-4795-AC2C-324D745BF0B2}" type="slidenum">
              <a:rPr lang="ru-RU" smtClean="0"/>
              <a:t>4</a:t>
            </a:fld>
            <a:endParaRPr lang="ru-RU"/>
          </a:p>
        </p:txBody>
      </p:sp>
    </p:spTree>
    <p:extLst>
      <p:ext uri="{BB962C8B-B14F-4D97-AF65-F5344CB8AC3E}">
        <p14:creationId xmlns:p14="http://schemas.microsoft.com/office/powerpoint/2010/main" val="1277168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ru-R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C081A61D-3C96-4742-B8FD-E0E2E2AD1B0C}" type="slidenum">
              <a:rPr lang="ru-RU" altLang="ru-RU"/>
              <a:pPr/>
              <a:t>‹#›</a:t>
            </a:fld>
            <a:endParaRPr lang="ru-RU" altLang="ru-RU"/>
          </a:p>
        </p:txBody>
      </p:sp>
    </p:spTree>
    <p:extLst>
      <p:ext uri="{BB962C8B-B14F-4D97-AF65-F5344CB8AC3E}">
        <p14:creationId xmlns:p14="http://schemas.microsoft.com/office/powerpoint/2010/main" val="1540948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21B2B701-586F-43F7-87A3-993F57597A3A}" type="slidenum">
              <a:rPr lang="ru-RU" altLang="ru-RU"/>
              <a:pPr/>
              <a:t>‹#›</a:t>
            </a:fld>
            <a:endParaRPr lang="ru-RU" altLang="ru-RU"/>
          </a:p>
        </p:txBody>
      </p:sp>
    </p:spTree>
    <p:extLst>
      <p:ext uri="{BB962C8B-B14F-4D97-AF65-F5344CB8AC3E}">
        <p14:creationId xmlns:p14="http://schemas.microsoft.com/office/powerpoint/2010/main" val="177757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smtClean="0"/>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F94E41B1-2019-453A-B010-0CA1736A33CF}" type="slidenum">
              <a:rPr lang="ru-RU" altLang="ru-RU"/>
              <a:pPr/>
              <a:t>‹#›</a:t>
            </a:fld>
            <a:endParaRPr lang="ru-RU" altLang="ru-RU"/>
          </a:p>
        </p:txBody>
      </p:sp>
    </p:spTree>
    <p:extLst>
      <p:ext uri="{BB962C8B-B14F-4D97-AF65-F5344CB8AC3E}">
        <p14:creationId xmlns:p14="http://schemas.microsoft.com/office/powerpoint/2010/main" val="288356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D8829C97-DBC7-4C7F-8515-2D5CC74FF33F}" type="slidenum">
              <a:rPr lang="ru-RU" altLang="ru-RU"/>
              <a:pPr/>
              <a:t>‹#›</a:t>
            </a:fld>
            <a:endParaRPr lang="ru-RU" altLang="ru-RU"/>
          </a:p>
        </p:txBody>
      </p:sp>
    </p:spTree>
    <p:extLst>
      <p:ext uri="{BB962C8B-B14F-4D97-AF65-F5344CB8AC3E}">
        <p14:creationId xmlns:p14="http://schemas.microsoft.com/office/powerpoint/2010/main" val="1512537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Rectangle 4"/>
          <p:cNvSpPr>
            <a:spLocks noGrp="1" noChangeArrowheads="1"/>
          </p:cNvSpPr>
          <p:nvPr>
            <p:ph type="dt" sz="half" idx="10"/>
          </p:nvPr>
        </p:nvSpPr>
        <p:spPr>
          <a:ln/>
        </p:spPr>
        <p:txBody>
          <a:bodyPr/>
          <a:lstStyle>
            <a:lvl1pPr>
              <a:defRPr/>
            </a:lvl1pPr>
          </a:lstStyle>
          <a:p>
            <a:pPr>
              <a:defRPr/>
            </a:pPr>
            <a:endParaRPr lang="ru-RU"/>
          </a:p>
        </p:txBody>
      </p:sp>
      <p:sp>
        <p:nvSpPr>
          <p:cNvPr id="8" name="Rectangle 5"/>
          <p:cNvSpPr>
            <a:spLocks noGrp="1" noChangeArrowheads="1"/>
          </p:cNvSpPr>
          <p:nvPr>
            <p:ph type="ftr" sz="quarter" idx="11"/>
          </p:nvPr>
        </p:nvSpPr>
        <p:spPr>
          <a:ln/>
        </p:spPr>
        <p:txBody>
          <a:bodyPr/>
          <a:lstStyle>
            <a:lvl1pPr>
              <a:defRPr/>
            </a:lvl1pPr>
          </a:lstStyle>
          <a:p>
            <a:pPr>
              <a:defRPr/>
            </a:pPr>
            <a:endParaRPr lang="ru-RU"/>
          </a:p>
        </p:txBody>
      </p:sp>
      <p:sp>
        <p:nvSpPr>
          <p:cNvPr id="9" name="Rectangle 6"/>
          <p:cNvSpPr>
            <a:spLocks noGrp="1" noChangeArrowheads="1"/>
          </p:cNvSpPr>
          <p:nvPr>
            <p:ph type="sldNum" sz="quarter" idx="12"/>
          </p:nvPr>
        </p:nvSpPr>
        <p:spPr>
          <a:ln/>
        </p:spPr>
        <p:txBody>
          <a:bodyPr/>
          <a:lstStyle>
            <a:lvl1pPr>
              <a:defRPr/>
            </a:lvl1pPr>
          </a:lstStyle>
          <a:p>
            <a:fld id="{F76D0C09-1357-41AF-B942-9CDCF72CFB07}" type="slidenum">
              <a:rPr lang="ru-RU" altLang="ru-RU"/>
              <a:pPr/>
              <a:t>‹#›</a:t>
            </a:fld>
            <a:endParaRPr lang="ru-RU" altLang="ru-RU"/>
          </a:p>
        </p:txBody>
      </p:sp>
    </p:spTree>
    <p:extLst>
      <p:ext uri="{BB962C8B-B14F-4D97-AF65-F5344CB8AC3E}">
        <p14:creationId xmlns:p14="http://schemas.microsoft.com/office/powerpoint/2010/main" val="2920971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fld id="{D4132B06-EE59-492E-ACF7-C0CC5B1C053C}" type="slidenum">
              <a:rPr lang="ru-RU" altLang="ru-RU"/>
              <a:pPr/>
              <a:t>‹#›</a:t>
            </a:fld>
            <a:endParaRPr lang="ru-RU" altLang="ru-RU"/>
          </a:p>
        </p:txBody>
      </p:sp>
    </p:spTree>
    <p:extLst>
      <p:ext uri="{BB962C8B-B14F-4D97-AF65-F5344CB8AC3E}">
        <p14:creationId xmlns:p14="http://schemas.microsoft.com/office/powerpoint/2010/main" val="783516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ru-RU"/>
          </a:p>
        </p:txBody>
      </p:sp>
      <p:sp>
        <p:nvSpPr>
          <p:cNvPr id="3" name="Rectangle 5"/>
          <p:cNvSpPr>
            <a:spLocks noGrp="1" noChangeArrowheads="1"/>
          </p:cNvSpPr>
          <p:nvPr>
            <p:ph type="ftr" sz="quarter" idx="11"/>
          </p:nvPr>
        </p:nvSpPr>
        <p:spPr>
          <a:ln/>
        </p:spPr>
        <p:txBody>
          <a:bodyPr/>
          <a:lstStyle>
            <a:lvl1pPr>
              <a:defRPr/>
            </a:lvl1pPr>
          </a:lstStyle>
          <a:p>
            <a:pPr>
              <a:defRPr/>
            </a:pPr>
            <a:endParaRPr lang="ru-RU"/>
          </a:p>
        </p:txBody>
      </p:sp>
      <p:sp>
        <p:nvSpPr>
          <p:cNvPr id="4" name="Rectangle 6"/>
          <p:cNvSpPr>
            <a:spLocks noGrp="1" noChangeArrowheads="1"/>
          </p:cNvSpPr>
          <p:nvPr>
            <p:ph type="sldNum" sz="quarter" idx="12"/>
          </p:nvPr>
        </p:nvSpPr>
        <p:spPr>
          <a:ln/>
        </p:spPr>
        <p:txBody>
          <a:bodyPr/>
          <a:lstStyle>
            <a:lvl1pPr>
              <a:defRPr/>
            </a:lvl1pPr>
          </a:lstStyle>
          <a:p>
            <a:fld id="{549CCD51-1752-410E-959E-1D228FE15545}" type="slidenum">
              <a:rPr lang="ru-RU" altLang="ru-RU"/>
              <a:pPr/>
              <a:t>‹#›</a:t>
            </a:fld>
            <a:endParaRPr lang="ru-RU" altLang="ru-RU"/>
          </a:p>
        </p:txBody>
      </p:sp>
    </p:spTree>
    <p:extLst>
      <p:ext uri="{BB962C8B-B14F-4D97-AF65-F5344CB8AC3E}">
        <p14:creationId xmlns:p14="http://schemas.microsoft.com/office/powerpoint/2010/main" val="3578297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ru-RU"/>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F1E7584F-C332-43A3-8467-934278548D35}" type="slidenum">
              <a:rPr lang="ru-RU" altLang="ru-RU"/>
              <a:pPr/>
              <a:t>‹#›</a:t>
            </a:fld>
            <a:endParaRPr lang="ru-RU" altLang="ru-RU"/>
          </a:p>
        </p:txBody>
      </p:sp>
    </p:spTree>
    <p:extLst>
      <p:ext uri="{BB962C8B-B14F-4D97-AF65-F5344CB8AC3E}">
        <p14:creationId xmlns:p14="http://schemas.microsoft.com/office/powerpoint/2010/main" val="1662529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ru-R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9839D3A0-78CE-4E49-B05A-7D7F5AB2DFAA}" type="slidenum">
              <a:rPr lang="ru-RU" altLang="ru-RU"/>
              <a:pPr/>
              <a:t>‹#›</a:t>
            </a:fld>
            <a:endParaRPr lang="ru-RU" altLang="ru-RU"/>
          </a:p>
        </p:txBody>
      </p:sp>
    </p:spTree>
    <p:extLst>
      <p:ext uri="{BB962C8B-B14F-4D97-AF65-F5344CB8AC3E}">
        <p14:creationId xmlns:p14="http://schemas.microsoft.com/office/powerpoint/2010/main" val="1523665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15A1D1C0-FA07-4E37-B609-18993FFB3E6B}" type="slidenum">
              <a:rPr lang="ru-RU" altLang="ru-RU"/>
              <a:pPr/>
              <a:t>‹#›</a:t>
            </a:fld>
            <a:endParaRPr lang="ru-RU" altLang="ru-RU"/>
          </a:p>
        </p:txBody>
      </p:sp>
    </p:spTree>
    <p:extLst>
      <p:ext uri="{BB962C8B-B14F-4D97-AF65-F5344CB8AC3E}">
        <p14:creationId xmlns:p14="http://schemas.microsoft.com/office/powerpoint/2010/main" val="3863370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17592DE1-2720-4206-A936-D1E7A7FFB920}" type="slidenum">
              <a:rPr lang="ru-RU" altLang="ru-RU"/>
              <a:pPr/>
              <a:t>‹#›</a:t>
            </a:fld>
            <a:endParaRPr lang="ru-RU" altLang="ru-RU"/>
          </a:p>
        </p:txBody>
      </p:sp>
    </p:spTree>
    <p:extLst>
      <p:ext uri="{BB962C8B-B14F-4D97-AF65-F5344CB8AC3E}">
        <p14:creationId xmlns:p14="http://schemas.microsoft.com/office/powerpoint/2010/main" val="90655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ru-RU" smtClean="0"/>
              <a:t>Образец заголовка</a:t>
            </a:r>
          </a:p>
        </p:txBody>
      </p:sp>
      <p:sp>
        <p:nvSpPr>
          <p:cNvPr id="23555" name="Rectangle 3"/>
          <p:cNvSpPr>
            <a:spLocks noGrp="1" noChangeArrowheads="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smtClean="0"/>
              <a:t>Образец текста</a:t>
            </a:r>
          </a:p>
          <a:p>
            <a:pPr lvl="1"/>
            <a:r>
              <a:rPr lang="ru-RU" altLang="ru-RU" smtClean="0"/>
              <a:t>Второй уровень</a:t>
            </a:r>
          </a:p>
          <a:p>
            <a:pPr lvl="2"/>
            <a:r>
              <a:rPr lang="ru-RU" altLang="ru-RU" smtClean="0"/>
              <a:t>Третий уровень</a:t>
            </a:r>
          </a:p>
          <a:p>
            <a:pPr lvl="3"/>
            <a:r>
              <a:rPr lang="ru-RU" altLang="ru-RU" smtClean="0"/>
              <a:t>Четвертый уровень</a:t>
            </a:r>
          </a:p>
          <a:p>
            <a:pPr lvl="4"/>
            <a:r>
              <a:rPr lang="ru-RU" altLang="ru-RU" smtClean="0"/>
              <a:t>Пятый уровень</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atin typeface="Arial" charset="0"/>
              </a:defRPr>
            </a:lvl1pPr>
          </a:lstStyle>
          <a:p>
            <a:pPr>
              <a:defRPr/>
            </a:pPr>
            <a:endParaRPr lang="ru-R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atin typeface="Arial" charset="0"/>
              </a:defRPr>
            </a:lvl1pPr>
          </a:lstStyle>
          <a:p>
            <a:pPr>
              <a:defRPr/>
            </a:pPr>
            <a:endParaRPr lang="ru-R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vl1pPr>
          </a:lstStyle>
          <a:p>
            <a:fld id="{636310D5-63B1-47A2-B41B-747FB204C5CC}" type="slidenum">
              <a:rPr lang="ru-RU" altLang="ru-RU"/>
              <a:pPr/>
              <a:t>‹#›</a:t>
            </a:fld>
            <a:endParaRPr lang="ru-RU" alt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pdf/1812.01609.pdf" TargetMode="External"/><Relationship Id="rId2" Type="http://schemas.openxmlformats.org/officeDocument/2006/relationships/hyperlink" Target="https://arxiv.org/pdf/2002.08981.pdf" TargetMode="Externa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685800" y="593714"/>
            <a:ext cx="7740873" cy="524258"/>
          </a:xfrm>
        </p:spPr>
        <p:txBody>
          <a:bodyPr/>
          <a:lstStyle/>
          <a:p>
            <a:pPr eaLnBrk="1" hangingPunct="1"/>
            <a:r>
              <a:rPr lang="en-US" altLang="ru-RU" sz="2400" b="1" dirty="0" smtClean="0">
                <a:latin typeface="+mn-lt"/>
                <a:cs typeface="Times New Roman" panose="02020603050405020304" pitchFamily="18" charset="0"/>
              </a:rPr>
              <a:t>SPEEDING UP WAVE PROPAGATION MODEL</a:t>
            </a:r>
            <a:endParaRPr lang="ru-RU" altLang="ru-RU" sz="2400" b="1" dirty="0">
              <a:latin typeface="+mn-lt"/>
              <a:cs typeface="Times New Roman" panose="02020603050405020304" pitchFamily="18" charset="0"/>
            </a:endParaRPr>
          </a:p>
        </p:txBody>
      </p:sp>
      <p:sp>
        <p:nvSpPr>
          <p:cNvPr id="24579" name="Rectangle 3"/>
          <p:cNvSpPr>
            <a:spLocks noGrp="1" noChangeArrowheads="1"/>
          </p:cNvSpPr>
          <p:nvPr>
            <p:ph type="subTitle" idx="1"/>
          </p:nvPr>
        </p:nvSpPr>
        <p:spPr>
          <a:xfrm>
            <a:off x="2667000" y="2406583"/>
            <a:ext cx="4800600" cy="3048000"/>
          </a:xfrm>
        </p:spPr>
        <p:txBody>
          <a:bodyPr/>
          <a:lstStyle/>
          <a:p>
            <a:pPr algn="l" eaLnBrk="1" hangingPunct="1">
              <a:lnSpc>
                <a:spcPct val="80000"/>
              </a:lnSpc>
            </a:pPr>
            <a:r>
              <a:rPr lang="en-US" altLang="ru-RU" sz="1800" b="1" u="sng" dirty="0" smtClean="0">
                <a:cs typeface="Times New Roman" panose="02020603050405020304" pitchFamily="18" charset="0"/>
              </a:rPr>
              <a:t>Sayranov</a:t>
            </a:r>
            <a:r>
              <a:rPr lang="en-US" altLang="ru-RU" sz="1800" b="1" u="sng" dirty="0">
                <a:cs typeface="Times New Roman" panose="02020603050405020304" pitchFamily="18" charset="0"/>
              </a:rPr>
              <a:t> </a:t>
            </a:r>
            <a:r>
              <a:rPr lang="en-US" altLang="ru-RU" sz="1800" b="1" u="sng" dirty="0" smtClean="0">
                <a:cs typeface="Times New Roman" panose="02020603050405020304" pitchFamily="18" charset="0"/>
              </a:rPr>
              <a:t>Danil</a:t>
            </a:r>
            <a:endParaRPr lang="ru-RU" altLang="ru-RU" sz="1800" b="1" u="sng" dirty="0">
              <a:cs typeface="Times New Roman" panose="02020603050405020304" pitchFamily="18" charset="0"/>
            </a:endParaRPr>
          </a:p>
          <a:p>
            <a:pPr algn="l" eaLnBrk="1" hangingPunct="1">
              <a:lnSpc>
                <a:spcPct val="80000"/>
              </a:lnSpc>
            </a:pPr>
            <a:r>
              <a:rPr lang="en-US" altLang="ru-RU" sz="1400" i="1" dirty="0">
                <a:cs typeface="Times New Roman" panose="02020603050405020304" pitchFamily="18" charset="0"/>
              </a:rPr>
              <a:t>Moscow Institute of Physics and </a:t>
            </a:r>
            <a:r>
              <a:rPr lang="en-US" altLang="ru-RU" sz="1400" i="1" dirty="0" smtClean="0">
                <a:cs typeface="Times New Roman" panose="02020603050405020304" pitchFamily="18" charset="0"/>
              </a:rPr>
              <a:t>Technologies (M. Sc.)</a:t>
            </a:r>
            <a:endParaRPr lang="ru-RU" altLang="ru-RU" sz="1400" b="1" dirty="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Huawei Research </a:t>
            </a:r>
            <a:r>
              <a:rPr lang="en-US" altLang="ru-RU" sz="1400" i="1" dirty="0" smtClean="0">
                <a:cs typeface="Times New Roman" panose="02020603050405020304" pitchFamily="18" charset="0"/>
              </a:rPr>
              <a:t>Center</a:t>
            </a:r>
            <a:endParaRPr lang="ru-RU" altLang="ru-RU" sz="1400" i="1" dirty="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Key Research Interests: Machine Learning, </a:t>
            </a:r>
            <a:r>
              <a:rPr lang="en-US" altLang="ru-RU" sz="1400" i="1" dirty="0" smtClean="0">
                <a:cs typeface="Times New Roman" panose="02020603050405020304" pitchFamily="18" charset="0"/>
              </a:rPr>
              <a:t>G</a:t>
            </a:r>
            <a:r>
              <a:rPr lang="en-US" altLang="ru-RU" sz="1400" i="1" dirty="0" smtClean="0">
                <a:cs typeface="Times New Roman" panose="02020603050405020304" pitchFamily="18" charset="0"/>
              </a:rPr>
              <a:t>radient-free </a:t>
            </a:r>
            <a:r>
              <a:rPr lang="en-US" altLang="ru-RU" sz="1400" i="1" dirty="0" smtClean="0">
                <a:cs typeface="Times New Roman" panose="02020603050405020304" pitchFamily="18" charset="0"/>
              </a:rPr>
              <a:t>methods, </a:t>
            </a:r>
            <a:r>
              <a:rPr lang="en-US" altLang="ru-RU" sz="1400" i="1" dirty="0" smtClean="0">
                <a:cs typeface="Times New Roman" panose="02020603050405020304" pitchFamily="18" charset="0"/>
              </a:rPr>
              <a:t>SNN.</a:t>
            </a:r>
            <a:endParaRPr lang="en-US" altLang="ru-RU" sz="1400" i="1" dirty="0" smtClean="0">
              <a:cs typeface="Times New Roman" panose="02020603050405020304" pitchFamily="18" charset="0"/>
            </a:endParaRPr>
          </a:p>
          <a:p>
            <a:pPr algn="l" eaLnBrk="1" hangingPunct="1">
              <a:lnSpc>
                <a:spcPct val="80000"/>
              </a:lnSpc>
            </a:pPr>
            <a:endParaRPr lang="en-US" altLang="ru-RU" sz="1500" i="1" dirty="0" smtClean="0">
              <a:cs typeface="Times New Roman" panose="02020603050405020304" pitchFamily="18" charset="0"/>
            </a:endParaRPr>
          </a:p>
          <a:p>
            <a:pPr algn="l" eaLnBrk="1" hangingPunct="1">
              <a:lnSpc>
                <a:spcPct val="80000"/>
              </a:lnSpc>
            </a:pPr>
            <a:endParaRPr lang="ru-RU" altLang="ru-RU" sz="1500" i="1" dirty="0" smtClean="0">
              <a:cs typeface="Times New Roman" panose="02020603050405020304" pitchFamily="18" charset="0"/>
            </a:endParaRPr>
          </a:p>
          <a:p>
            <a:pPr algn="l" eaLnBrk="1" hangingPunct="1">
              <a:lnSpc>
                <a:spcPct val="80000"/>
              </a:lnSpc>
            </a:pPr>
            <a:r>
              <a:rPr lang="en-US" altLang="ru-RU" sz="1800" b="1" dirty="0" err="1" smtClean="0">
                <a:cs typeface="Times New Roman" panose="02020603050405020304" pitchFamily="18" charset="0"/>
              </a:rPr>
              <a:t>Zasko</a:t>
            </a:r>
            <a:r>
              <a:rPr lang="en-US" altLang="ru-RU" sz="1800" b="1" dirty="0" smtClean="0">
                <a:cs typeface="Times New Roman" panose="02020603050405020304" pitchFamily="18" charset="0"/>
              </a:rPr>
              <a:t> </a:t>
            </a:r>
            <a:r>
              <a:rPr lang="en-US" altLang="ru-RU" sz="1800" b="1" dirty="0" err="1" smtClean="0">
                <a:cs typeface="Times New Roman" panose="02020603050405020304" pitchFamily="18" charset="0"/>
              </a:rPr>
              <a:t>Grigory</a:t>
            </a:r>
            <a:endParaRPr lang="en-US" altLang="ru-RU" sz="1800" b="1" dirty="0" smtClean="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Moscow Institute of Physics and Technologies (M. Sc.)</a:t>
            </a:r>
            <a:endParaRPr lang="ru-RU" altLang="ru-RU" sz="1400" b="1" dirty="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Marchuk Institute of Numerical Mathematics of Russian Academy of Science</a:t>
            </a:r>
            <a:endParaRPr lang="ru-RU" altLang="ru-RU" sz="1400" i="1" dirty="0">
              <a:cs typeface="Times New Roman" panose="02020603050405020304" pitchFamily="18" charset="0"/>
            </a:endParaRPr>
          </a:p>
          <a:p>
            <a:pPr algn="l" eaLnBrk="1" hangingPunct="1">
              <a:lnSpc>
                <a:spcPct val="80000"/>
              </a:lnSpc>
            </a:pPr>
            <a:r>
              <a:rPr lang="en-US" altLang="ru-RU" sz="1400" i="1" dirty="0">
                <a:cs typeface="Times New Roman" panose="02020603050405020304" pitchFamily="18" charset="0"/>
              </a:rPr>
              <a:t>Key Research Interests: </a:t>
            </a:r>
            <a:r>
              <a:rPr lang="en-US" altLang="ru-RU" sz="1400" i="1" dirty="0" smtClean="0">
                <a:cs typeface="Times New Roman" panose="02020603050405020304" pitchFamily="18" charset="0"/>
              </a:rPr>
              <a:t>Matrix Analysis, Numerical Math.,</a:t>
            </a:r>
          </a:p>
          <a:p>
            <a:pPr algn="l" eaLnBrk="1" hangingPunct="1">
              <a:lnSpc>
                <a:spcPct val="80000"/>
              </a:lnSpc>
            </a:pPr>
            <a:r>
              <a:rPr lang="en-US" altLang="ru-RU" sz="1400" i="1" dirty="0" smtClean="0">
                <a:cs typeface="Times New Roman" panose="02020603050405020304" pitchFamily="18" charset="0"/>
              </a:rPr>
              <a:t>Stability Analysis, LTT, Turbulent Flows.</a:t>
            </a:r>
            <a:endParaRPr lang="en-US" altLang="ru-RU" sz="1400" i="1" dirty="0">
              <a:cs typeface="Times New Roman" panose="02020603050405020304" pitchFamily="18" charset="0"/>
            </a:endParaRPr>
          </a:p>
          <a:p>
            <a:pPr algn="l" eaLnBrk="1" hangingPunct="1">
              <a:lnSpc>
                <a:spcPct val="80000"/>
              </a:lnSpc>
            </a:pPr>
            <a:endParaRPr lang="ru-RU" altLang="ru-RU" sz="1500" i="1" dirty="0">
              <a:solidFill>
                <a:srgbClr val="996600"/>
              </a:solidFill>
              <a:cs typeface="Arial" panose="020B0604020202020204" pitchFamily="34" charset="0"/>
            </a:endParaRPr>
          </a:p>
          <a:p>
            <a:pPr algn="l" eaLnBrk="1" hangingPunct="1">
              <a:lnSpc>
                <a:spcPct val="80000"/>
              </a:lnSpc>
            </a:pPr>
            <a:endParaRPr lang="ru-RU" altLang="ru-RU" sz="1800" dirty="0">
              <a:cs typeface="Times New Roman" panose="02020603050405020304" pitchFamily="18" charset="0"/>
            </a:endParaRPr>
          </a:p>
        </p:txBody>
      </p:sp>
      <p:sp>
        <p:nvSpPr>
          <p:cNvPr id="8" name="Rectangle 2"/>
          <p:cNvSpPr txBox="1">
            <a:spLocks noChangeArrowheads="1"/>
          </p:cNvSpPr>
          <p:nvPr/>
        </p:nvSpPr>
        <p:spPr bwMode="auto">
          <a:xfrm>
            <a:off x="685800" y="1327858"/>
            <a:ext cx="7740873" cy="524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eaLnBrk="1" hangingPunct="1"/>
            <a:r>
              <a:rPr lang="en-US" altLang="ru-RU" sz="2400" b="1" kern="0" dirty="0" smtClean="0">
                <a:latin typeface="+mn-lt"/>
                <a:cs typeface="Times New Roman" panose="02020603050405020304" pitchFamily="18" charset="0"/>
              </a:rPr>
              <a:t>Team</a:t>
            </a:r>
            <a:r>
              <a:rPr lang="ru-RU" altLang="ru-RU" sz="2100" b="1" kern="0" dirty="0" smtClean="0">
                <a:latin typeface="+mn-lt"/>
                <a:cs typeface="Times New Roman" panose="02020603050405020304" pitchFamily="18" charset="0"/>
              </a:rPr>
              <a:t> </a:t>
            </a:r>
            <a:r>
              <a:rPr lang="en-US" altLang="ru-RU" sz="2100" b="1" kern="0" dirty="0" smtClean="0">
                <a:latin typeface="+mn-lt"/>
                <a:cs typeface="Times New Roman" panose="02020603050405020304" pitchFamily="18" charset="0"/>
              </a:rPr>
              <a:t>ZASA</a:t>
            </a:r>
            <a:endParaRPr lang="ru-RU" altLang="ru-RU" sz="2100" b="1" kern="0" dirty="0">
              <a:latin typeface="+mn-lt"/>
              <a:cs typeface="Times New Roman" panose="02020603050405020304" pitchFamily="18" charset="0"/>
            </a:endParaRPr>
          </a:p>
        </p:txBody>
      </p:sp>
      <p:pic>
        <p:nvPicPr>
          <p:cNvPr id="70658" name="Picture 2" descr="Брендбук МФТИ — МФТИ"/>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5257800"/>
            <a:ext cx="2746375" cy="1492197"/>
          </a:xfrm>
          <a:prstGeom prst="rect">
            <a:avLst/>
          </a:prstGeom>
          <a:noFill/>
          <a:extLst>
            <a:ext uri="{909E8E84-426E-40DD-AFC4-6F175D3DCCD1}">
              <a14:hiddenFill xmlns:a14="http://schemas.microsoft.com/office/drawing/2010/main">
                <a:solidFill>
                  <a:srgbClr val="FFFFFF"/>
                </a:solidFill>
              </a14:hiddenFill>
            </a:ext>
          </a:extLst>
        </p:spPr>
      </p:pic>
      <p:pic>
        <p:nvPicPr>
          <p:cNvPr id="4" name="Рисунок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2077" y="2025115"/>
            <a:ext cx="1082955" cy="1447800"/>
          </a:xfrm>
          <a:prstGeom prst="rect">
            <a:avLst/>
          </a:prstGeom>
        </p:spPr>
      </p:pic>
      <p:pic>
        <p:nvPicPr>
          <p:cNvPr id="5" name="Рисунок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5400" y="3930583"/>
            <a:ext cx="1106016" cy="1371600"/>
          </a:xfrm>
          <a:prstGeom prst="rect">
            <a:avLst/>
          </a:prstGeom>
        </p:spPr>
      </p:pic>
    </p:spTree>
    <p:extLst>
      <p:ext uri="{BB962C8B-B14F-4D97-AF65-F5344CB8AC3E}">
        <p14:creationId xmlns:p14="http://schemas.microsoft.com/office/powerpoint/2010/main" val="40129156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1"/>
          <p:cNvSpPr>
            <a:spLocks noChangeArrowheads="1"/>
          </p:cNvSpPr>
          <p:nvPr/>
        </p:nvSpPr>
        <p:spPr bwMode="auto">
          <a:xfrm>
            <a:off x="416737" y="748461"/>
            <a:ext cx="2734489" cy="707886"/>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dirty="0" smtClean="0">
                <a:latin typeface="+mn-lt"/>
                <a:cs typeface="Times New Roman" panose="02020603050405020304" pitchFamily="18" charset="0"/>
              </a:rPr>
              <a:t>2D wave prop. model</a:t>
            </a:r>
            <a:r>
              <a:rPr lang="ru-RU" altLang="ru-RU" sz="2000" dirty="0" smtClean="0">
                <a:latin typeface="+mn-lt"/>
                <a:cs typeface="Times New Roman" panose="02020603050405020304" pitchFamily="18" charset="0"/>
              </a:rPr>
              <a:t> </a:t>
            </a:r>
            <a:r>
              <a:rPr lang="en-US" altLang="ru-RU" sz="2000" dirty="0" smtClean="0">
                <a:latin typeface="+mn-lt"/>
                <a:cs typeface="Times New Roman" panose="02020603050405020304" pitchFamily="18" charset="0"/>
              </a:rPr>
              <a:t>with point </a:t>
            </a:r>
            <a:r>
              <a:rPr lang="en-US" altLang="ru-RU" sz="2000" dirty="0" smtClean="0">
                <a:latin typeface="+mn-lt"/>
                <a:cs typeface="Times New Roman" panose="02020603050405020304" pitchFamily="18" charset="0"/>
              </a:rPr>
              <a:t>source:</a:t>
            </a:r>
            <a:endParaRPr lang="ru-RU" altLang="ru-RU" sz="2000" dirty="0">
              <a:latin typeface="+mn-lt"/>
              <a:cs typeface="Times New Roman" panose="02020603050405020304" pitchFamily="18" charset="0"/>
            </a:endParaRPr>
          </a:p>
        </p:txBody>
      </p:sp>
      <p:sp>
        <p:nvSpPr>
          <p:cNvPr id="11" name="Rectangle 51"/>
          <p:cNvSpPr>
            <a:spLocks noChangeArrowheads="1"/>
          </p:cNvSpPr>
          <p:nvPr/>
        </p:nvSpPr>
        <p:spPr bwMode="auto">
          <a:xfrm>
            <a:off x="419649" y="211176"/>
            <a:ext cx="2360754" cy="40011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b="1" dirty="0" smtClean="0">
                <a:latin typeface="+mn-lt"/>
                <a:cs typeface="Times New Roman" panose="02020603050405020304" pitchFamily="18" charset="0"/>
              </a:rPr>
              <a:t>Main Problem:</a:t>
            </a:r>
            <a:endParaRPr lang="ru-RU" altLang="ru-RU" sz="2000" b="1" dirty="0">
              <a:latin typeface="+mn-lt"/>
              <a:cs typeface="Times New Roman" panose="02020603050405020304" pitchFamily="18" charset="0"/>
            </a:endParaRPr>
          </a:p>
        </p:txBody>
      </p:sp>
      <p:pic>
        <p:nvPicPr>
          <p:cNvPr id="3" name="Рисунок 2"/>
          <p:cNvPicPr>
            <a:picLocks noChangeAspect="1"/>
          </p:cNvPicPr>
          <p:nvPr/>
        </p:nvPicPr>
        <p:blipFill>
          <a:blip r:embed="rId3"/>
          <a:stretch>
            <a:fillRect/>
          </a:stretch>
        </p:blipFill>
        <p:spPr>
          <a:xfrm>
            <a:off x="3462334" y="665667"/>
            <a:ext cx="5034665" cy="916637"/>
          </a:xfrm>
          <a:prstGeom prst="rect">
            <a:avLst/>
          </a:prstGeom>
        </p:spPr>
      </p:pic>
      <p:sp>
        <p:nvSpPr>
          <p:cNvPr id="5" name="TextBox 4"/>
          <p:cNvSpPr txBox="1"/>
          <p:nvPr/>
        </p:nvSpPr>
        <p:spPr>
          <a:xfrm>
            <a:off x="416737" y="2288487"/>
            <a:ext cx="6889988" cy="338554"/>
          </a:xfrm>
          <a:prstGeom prst="rect">
            <a:avLst/>
          </a:prstGeom>
          <a:noFill/>
        </p:spPr>
        <p:txBody>
          <a:bodyPr wrap="square" rtlCol="0">
            <a:spAutoFit/>
          </a:bodyPr>
          <a:lstStyle/>
          <a:p>
            <a:r>
              <a:rPr lang="en-US" sz="1600" dirty="0">
                <a:latin typeface="+mn-lt"/>
                <a:cs typeface="Times New Roman" panose="02020603050405020304" pitchFamily="18" charset="0"/>
              </a:rPr>
              <a:t>w</a:t>
            </a:r>
            <a:r>
              <a:rPr lang="en-US" sz="1600" dirty="0" smtClean="0">
                <a:latin typeface="+mn-lt"/>
                <a:cs typeface="Times New Roman" panose="02020603050405020304" pitchFamily="18" charset="0"/>
              </a:rPr>
              <a:t>ith </a:t>
            </a:r>
            <a:r>
              <a:rPr lang="en-US" sz="1600" i="1" dirty="0" smtClean="0">
                <a:latin typeface="+mn-lt"/>
                <a:cs typeface="Times New Roman" panose="02020603050405020304" pitchFamily="18" charset="0"/>
              </a:rPr>
              <a:t>reflecting</a:t>
            </a:r>
            <a:r>
              <a:rPr lang="en-US" sz="1600" dirty="0" smtClean="0">
                <a:latin typeface="+mn-lt"/>
                <a:cs typeface="Times New Roman" panose="02020603050405020304" pitchFamily="18" charset="0"/>
              </a:rPr>
              <a:t> boundary condition for </a:t>
            </a:r>
            <a:r>
              <a:rPr lang="en-US" sz="1600" b="1" dirty="0" smtClean="0">
                <a:latin typeface="+mn-lt"/>
                <a:cs typeface="Times New Roman" panose="02020603050405020304" pitchFamily="18" charset="0"/>
              </a:rPr>
              <a:t>p</a:t>
            </a:r>
            <a:r>
              <a:rPr lang="en-US" sz="1600" dirty="0" smtClean="0">
                <a:latin typeface="+mn-lt"/>
                <a:cs typeface="Times New Roman" panose="02020603050405020304" pitchFamily="18" charset="0"/>
              </a:rPr>
              <a:t> on the edges of domain</a:t>
            </a:r>
            <a:endParaRPr lang="ru-RU" sz="1600" dirty="0">
              <a:latin typeface="+mn-lt"/>
              <a:cs typeface="Times New Roman" panose="02020603050405020304" pitchFamily="18" charset="0"/>
            </a:endParaRPr>
          </a:p>
        </p:txBody>
      </p:sp>
      <p:sp>
        <p:nvSpPr>
          <p:cNvPr id="16" name="Rectangle 51"/>
          <p:cNvSpPr>
            <a:spLocks noChangeArrowheads="1"/>
          </p:cNvSpPr>
          <p:nvPr/>
        </p:nvSpPr>
        <p:spPr bwMode="auto">
          <a:xfrm>
            <a:off x="416737" y="1680057"/>
            <a:ext cx="3079752" cy="415498"/>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dirty="0" smtClean="0">
                <a:latin typeface="+mn-lt"/>
                <a:cs typeface="Times New Roman" panose="02020603050405020304" pitchFamily="18" charset="0"/>
              </a:rPr>
              <a:t>domain:</a:t>
            </a:r>
            <a:endParaRPr lang="ru-RU" altLang="ru-RU" sz="2000" dirty="0">
              <a:latin typeface="+mn-lt"/>
              <a:cs typeface="Times New Roman" panose="02020603050405020304" pitchFamily="18" charset="0"/>
            </a:endParaRPr>
          </a:p>
        </p:txBody>
      </p:sp>
      <p:pic>
        <p:nvPicPr>
          <p:cNvPr id="22" name="Рисунок 21"/>
          <p:cNvPicPr>
            <a:picLocks noChangeAspect="1"/>
          </p:cNvPicPr>
          <p:nvPr/>
        </p:nvPicPr>
        <p:blipFill>
          <a:blip r:embed="rId4"/>
          <a:stretch>
            <a:fillRect/>
          </a:stretch>
        </p:blipFill>
        <p:spPr>
          <a:xfrm>
            <a:off x="3462334" y="1640389"/>
            <a:ext cx="4576116" cy="500513"/>
          </a:xfrm>
          <a:prstGeom prst="rect">
            <a:avLst/>
          </a:prstGeom>
        </p:spPr>
      </p:pic>
      <p:sp>
        <p:nvSpPr>
          <p:cNvPr id="18" name="Rectangle 51"/>
          <p:cNvSpPr>
            <a:spLocks noChangeArrowheads="1"/>
          </p:cNvSpPr>
          <p:nvPr/>
        </p:nvSpPr>
        <p:spPr bwMode="auto">
          <a:xfrm>
            <a:off x="416737" y="2900951"/>
            <a:ext cx="8029266" cy="40011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b="1" dirty="0" smtClean="0">
                <a:latin typeface="+mn-lt"/>
                <a:cs typeface="Times New Roman" panose="02020603050405020304" pitchFamily="18" charset="0"/>
              </a:rPr>
              <a:t>Numerical model:</a:t>
            </a:r>
            <a:endParaRPr lang="ru-RU" altLang="ru-RU" sz="2000" b="1" dirty="0">
              <a:latin typeface="+mn-lt"/>
              <a:cs typeface="Times New Roman" panose="02020603050405020304" pitchFamily="18" charset="0"/>
            </a:endParaRPr>
          </a:p>
        </p:txBody>
      </p:sp>
      <p:pic>
        <p:nvPicPr>
          <p:cNvPr id="20" name="Рисунок 19"/>
          <p:cNvPicPr>
            <a:picLocks noChangeAspect="1"/>
          </p:cNvPicPr>
          <p:nvPr/>
        </p:nvPicPr>
        <p:blipFill>
          <a:blip r:embed="rId5"/>
          <a:stretch>
            <a:fillRect/>
          </a:stretch>
        </p:blipFill>
        <p:spPr>
          <a:xfrm>
            <a:off x="2124598" y="3973506"/>
            <a:ext cx="4125786" cy="892714"/>
          </a:xfrm>
          <a:prstGeom prst="rect">
            <a:avLst/>
          </a:prstGeom>
        </p:spPr>
      </p:pic>
      <mc:AlternateContent xmlns:mc="http://schemas.openxmlformats.org/markup-compatibility/2006">
        <mc:Choice xmlns:a14="http://schemas.microsoft.com/office/drawing/2010/main" Requires="a14">
          <p:sp>
            <p:nvSpPr>
              <p:cNvPr id="21" name="TextBox 20"/>
              <p:cNvSpPr txBox="1"/>
              <p:nvPr/>
            </p:nvSpPr>
            <p:spPr>
              <a:xfrm>
                <a:off x="416737" y="3387090"/>
                <a:ext cx="6889988" cy="584775"/>
              </a:xfrm>
              <a:prstGeom prst="rect">
                <a:avLst/>
              </a:prstGeom>
              <a:noFill/>
            </p:spPr>
            <p:txBody>
              <a:bodyPr wrap="square" rtlCol="0">
                <a:spAutoFit/>
              </a:bodyPr>
              <a:lstStyle/>
              <a:p>
                <a:r>
                  <a:rPr lang="en-US" sz="1600" dirty="0" smtClean="0">
                    <a:effectLst/>
                    <a:latin typeface="+mn-lt"/>
                    <a:cs typeface="Times New Roman" panose="02020603050405020304" pitchFamily="18" charset="0"/>
                  </a:rPr>
                  <a:t>Uniform rectangular grid with step </a:t>
                </a:r>
                <a:r>
                  <a:rPr lang="en-US" sz="1600" b="1" dirty="0" smtClean="0">
                    <a:effectLst/>
                    <a:latin typeface="+mn-lt"/>
                    <a:cs typeface="Times New Roman" panose="02020603050405020304" pitchFamily="18" charset="0"/>
                  </a:rPr>
                  <a:t>h </a:t>
                </a:r>
                <a:r>
                  <a:rPr lang="en-US" sz="1600" dirty="0" smtClean="0">
                    <a:effectLst/>
                    <a:latin typeface="+mn-lt"/>
                    <a:cs typeface="Times New Roman" panose="02020603050405020304" pitchFamily="18" charset="0"/>
                  </a:rPr>
                  <a:t>on spatial coordinates;</a:t>
                </a:r>
              </a:p>
              <a:p>
                <a:r>
                  <a:rPr lang="en-US" sz="1600" dirty="0" smtClean="0">
                    <a:effectLst/>
                    <a:latin typeface="+mn-lt"/>
                    <a:cs typeface="Times New Roman" panose="02020603050405020304" pitchFamily="18" charset="0"/>
                  </a:rPr>
                  <a:t>Uniform grid with step </a:t>
                </a:r>
                <a14:m>
                  <m:oMath xmlns:m="http://schemas.openxmlformats.org/officeDocument/2006/math">
                    <m:r>
                      <a:rPr lang="en-US" sz="1600" b="1" i="1" smtClean="0">
                        <a:effectLst/>
                        <a:latin typeface="+mn-lt"/>
                        <a:ea typeface="Cambria Math" panose="02040503050406030204" pitchFamily="18" charset="0"/>
                        <a:cs typeface="Times New Roman" panose="02020603050405020304" pitchFamily="18" charset="0"/>
                      </a:rPr>
                      <m:t>𝝉</m:t>
                    </m:r>
                  </m:oMath>
                </a14:m>
                <a:r>
                  <a:rPr lang="en-US" sz="1600" b="1" dirty="0" smtClean="0">
                    <a:effectLst/>
                    <a:latin typeface="+mn-lt"/>
                    <a:cs typeface="Times New Roman" panose="02020603050405020304" pitchFamily="18" charset="0"/>
                  </a:rPr>
                  <a:t> </a:t>
                </a:r>
                <a:r>
                  <a:rPr lang="en-US" sz="1600" dirty="0" smtClean="0">
                    <a:effectLst/>
                    <a:latin typeface="+mn-lt"/>
                    <a:cs typeface="Times New Roman" panose="02020603050405020304" pitchFamily="18" charset="0"/>
                  </a:rPr>
                  <a:t>on time;</a:t>
                </a:r>
                <a:endParaRPr lang="ru-RU" sz="1600" dirty="0">
                  <a:effectLst/>
                  <a:latin typeface="+mn-lt"/>
                  <a:cs typeface="Times New Roman" panose="02020603050405020304" pitchFamily="18" charset="0"/>
                </a:endParaRPr>
              </a:p>
            </p:txBody>
          </p:sp>
        </mc:Choice>
        <mc:Fallback>
          <p:sp>
            <p:nvSpPr>
              <p:cNvPr id="21" name="TextBox 20"/>
              <p:cNvSpPr txBox="1">
                <a:spLocks noRot="1" noChangeAspect="1" noMove="1" noResize="1" noEditPoints="1" noAdjustHandles="1" noChangeArrowheads="1" noChangeShapeType="1" noTextEdit="1"/>
              </p:cNvSpPr>
              <p:nvPr/>
            </p:nvSpPr>
            <p:spPr>
              <a:xfrm>
                <a:off x="416737" y="3387090"/>
                <a:ext cx="6889988" cy="584775"/>
              </a:xfrm>
              <a:prstGeom prst="rect">
                <a:avLst/>
              </a:prstGeom>
              <a:blipFill>
                <a:blip r:embed="rId6"/>
                <a:stretch>
                  <a:fillRect l="-442" t="-3125" b="-12500"/>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24" name="TextBox 23"/>
              <p:cNvSpPr txBox="1"/>
              <p:nvPr/>
            </p:nvSpPr>
            <p:spPr>
              <a:xfrm>
                <a:off x="416737" y="4862447"/>
                <a:ext cx="8356953" cy="830997"/>
              </a:xfrm>
              <a:prstGeom prst="rect">
                <a:avLst/>
              </a:prstGeom>
              <a:noFill/>
            </p:spPr>
            <p:txBody>
              <a:bodyPr wrap="square" rtlCol="0">
                <a:spAutoFit/>
              </a:bodyPr>
              <a:lstStyle/>
              <a:p>
                <a:r>
                  <a:rPr lang="en-US" sz="1600" dirty="0" smtClean="0">
                    <a:effectLst/>
                    <a:latin typeface="+mn-lt"/>
                    <a:cs typeface="Times New Roman" panose="02020603050405020304" pitchFamily="18" charset="0"/>
                  </a:rPr>
                  <a:t>Explicit integration on time;</a:t>
                </a:r>
              </a:p>
              <a:p>
                <a14:m>
                  <m:oMath xmlns:m="http://schemas.openxmlformats.org/officeDocument/2006/math">
                    <m:sSub>
                      <m:sSubPr>
                        <m:ctrlPr>
                          <a:rPr lang="ru-RU" sz="1600" b="1" i="1" smtClean="0">
                            <a:effectLst/>
                            <a:latin typeface="+mn-lt"/>
                            <a:cs typeface="Times New Roman" panose="02020603050405020304" pitchFamily="18" charset="0"/>
                          </a:rPr>
                        </m:ctrlPr>
                      </m:sSubPr>
                      <m:e>
                        <m:r>
                          <a:rPr lang="ru-RU" sz="1600" b="1" i="1" smtClean="0">
                            <a:effectLst/>
                            <a:latin typeface="+mn-lt"/>
                            <a:ea typeface="Cambria Math" panose="02040503050406030204" pitchFamily="18" charset="0"/>
                            <a:cs typeface="Times New Roman" panose="02020603050405020304" pitchFamily="18" charset="0"/>
                          </a:rPr>
                          <m:t>∆</m:t>
                        </m:r>
                      </m:e>
                      <m:sub>
                        <m:r>
                          <a:rPr lang="en-US" sz="1600" b="1" i="1" smtClean="0">
                            <a:effectLst/>
                            <a:latin typeface="+mn-lt"/>
                            <a:cs typeface="Times New Roman" panose="02020603050405020304" pitchFamily="18" charset="0"/>
                          </a:rPr>
                          <m:t>𝒉</m:t>
                        </m:r>
                      </m:sub>
                    </m:sSub>
                  </m:oMath>
                </a14:m>
                <a:r>
                  <a:rPr lang="en-US" sz="1600" b="1" dirty="0" smtClean="0">
                    <a:effectLst/>
                    <a:latin typeface="+mn-lt"/>
                    <a:cs typeface="Times New Roman" panose="02020603050405020304" pitchFamily="18" charset="0"/>
                  </a:rPr>
                  <a:t> </a:t>
                </a:r>
                <a:r>
                  <a:rPr lang="en-US" sz="1600" dirty="0" smtClean="0">
                    <a:effectLst/>
                    <a:latin typeface="+mn-lt"/>
                    <a:cs typeface="Times New Roman" panose="02020603050405020304" pitchFamily="18" charset="0"/>
                  </a:rPr>
                  <a:t>is second order FD approximation of Laplace operator;</a:t>
                </a:r>
              </a:p>
              <a:p>
                <a:r>
                  <a:rPr lang="en-US" sz="1600" dirty="0" smtClean="0">
                    <a:effectLst/>
                    <a:latin typeface="+mn-lt"/>
                    <a:cs typeface="Times New Roman" panose="02020603050405020304" pitchFamily="18" charset="0"/>
                  </a:rPr>
                  <a:t>Using </a:t>
                </a:r>
                <a:r>
                  <a:rPr lang="en-US" sz="1600" i="1" dirty="0" smtClean="0">
                    <a:effectLst/>
                    <a:latin typeface="+mn-lt"/>
                    <a:cs typeface="Times New Roman" panose="02020603050405020304" pitchFamily="18" charset="0"/>
                  </a:rPr>
                  <a:t>immerse boundar</a:t>
                </a:r>
                <a:r>
                  <a:rPr lang="en-US" sz="1600" i="1" dirty="0">
                    <a:effectLst/>
                    <a:latin typeface="+mn-lt"/>
                    <a:cs typeface="Times New Roman" panose="02020603050405020304" pitchFamily="18" charset="0"/>
                  </a:rPr>
                  <a:t>y</a:t>
                </a:r>
                <a:r>
                  <a:rPr lang="en-US" sz="1600" dirty="0" smtClean="0">
                    <a:effectLst/>
                    <a:latin typeface="+mn-lt"/>
                    <a:cs typeface="Times New Roman" panose="02020603050405020304" pitchFamily="18" charset="0"/>
                  </a:rPr>
                  <a:t> technique to create</a:t>
                </a:r>
                <a:r>
                  <a:rPr lang="ru-RU" sz="1600" dirty="0" smtClean="0">
                    <a:effectLst/>
                    <a:latin typeface="+mn-lt"/>
                    <a:cs typeface="Times New Roman" panose="02020603050405020304" pitchFamily="18" charset="0"/>
                  </a:rPr>
                  <a:t> </a:t>
                </a:r>
                <a:r>
                  <a:rPr lang="en-US" sz="1600" dirty="0" smtClean="0">
                    <a:effectLst/>
                    <a:latin typeface="+mn-lt"/>
                    <a:cs typeface="Times New Roman" panose="02020603050405020304" pitchFamily="18" charset="0"/>
                  </a:rPr>
                  <a:t>correct boundary conditions</a:t>
                </a:r>
                <a:r>
                  <a:rPr lang="ru-RU" sz="1600" dirty="0" smtClean="0">
                    <a:effectLst/>
                    <a:latin typeface="+mn-lt"/>
                    <a:cs typeface="Times New Roman" panose="02020603050405020304" pitchFamily="18" charset="0"/>
                  </a:rPr>
                  <a:t> </a:t>
                </a:r>
                <a:r>
                  <a:rPr lang="en-US" sz="1600" b="1" dirty="0">
                    <a:effectLst/>
                    <a:latin typeface="+mn-lt"/>
                    <a:cs typeface="Times New Roman" panose="02020603050405020304" pitchFamily="18" charset="0"/>
                  </a:rPr>
                  <a:t>numerically</a:t>
                </a:r>
                <a:r>
                  <a:rPr lang="en-US" sz="1600" dirty="0" smtClean="0">
                    <a:effectLst/>
                    <a:latin typeface="+mn-lt"/>
                    <a:cs typeface="Times New Roman" panose="02020603050405020304" pitchFamily="18" charset="0"/>
                  </a:rPr>
                  <a:t>.</a:t>
                </a:r>
                <a:endParaRPr lang="ru-RU" sz="1600" dirty="0">
                  <a:effectLst/>
                  <a:latin typeface="+mn-lt"/>
                  <a:cs typeface="Times New Roman" panose="02020603050405020304" pitchFamily="18" charset="0"/>
                </a:endParaRPr>
              </a:p>
            </p:txBody>
          </p:sp>
        </mc:Choice>
        <mc:Fallback>
          <p:sp>
            <p:nvSpPr>
              <p:cNvPr id="24" name="TextBox 23"/>
              <p:cNvSpPr txBox="1">
                <a:spLocks noRot="1" noChangeAspect="1" noMove="1" noResize="1" noEditPoints="1" noAdjustHandles="1" noChangeArrowheads="1" noChangeShapeType="1" noTextEdit="1"/>
              </p:cNvSpPr>
              <p:nvPr/>
            </p:nvSpPr>
            <p:spPr>
              <a:xfrm>
                <a:off x="416737" y="4862447"/>
                <a:ext cx="8356953" cy="830997"/>
              </a:xfrm>
              <a:prstGeom prst="rect">
                <a:avLst/>
              </a:prstGeom>
              <a:blipFill>
                <a:blip r:embed="rId7"/>
                <a:stretch>
                  <a:fillRect l="-365" t="-2206" b="-8824"/>
                </a:stretch>
              </a:blipFill>
            </p:spPr>
            <p:txBody>
              <a:bodyPr/>
              <a:lstStyle/>
              <a:p>
                <a:r>
                  <a:rPr lang="ru-RU">
                    <a:noFill/>
                  </a:rPr>
                  <a:t> </a:t>
                </a:r>
              </a:p>
            </p:txBody>
          </p:sp>
        </mc:Fallback>
      </mc:AlternateContent>
      <p:sp>
        <p:nvSpPr>
          <p:cNvPr id="25" name="Rectangle 51"/>
          <p:cNvSpPr>
            <a:spLocks noChangeArrowheads="1"/>
          </p:cNvSpPr>
          <p:nvPr/>
        </p:nvSpPr>
        <p:spPr bwMode="auto">
          <a:xfrm>
            <a:off x="416737" y="6002382"/>
            <a:ext cx="3079752" cy="369332"/>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b="1" dirty="0" smtClean="0">
                <a:latin typeface="+mn-lt"/>
                <a:cs typeface="Times New Roman" panose="02020603050405020304" pitchFamily="18" charset="0"/>
              </a:rPr>
              <a:t>The </a:t>
            </a:r>
            <a:r>
              <a:rPr lang="en-US" altLang="ru-RU" b="1" dirty="0" smtClean="0">
                <a:latin typeface="+mn-lt"/>
                <a:cs typeface="Times New Roman" panose="02020603050405020304" pitchFamily="18" charset="0"/>
              </a:rPr>
              <a:t>main restriction</a:t>
            </a:r>
            <a:r>
              <a:rPr lang="en-US" altLang="ru-RU" b="1" dirty="0" smtClean="0">
                <a:latin typeface="+mn-lt"/>
                <a:cs typeface="Times New Roman" panose="02020603050405020304" pitchFamily="18" charset="0"/>
              </a:rPr>
              <a:t>:</a:t>
            </a:r>
            <a:endParaRPr lang="ru-RU" altLang="ru-RU" b="1" dirty="0">
              <a:latin typeface="+mn-lt"/>
              <a:cs typeface="Times New Roman" panose="02020603050405020304" pitchFamily="18" charset="0"/>
            </a:endParaRPr>
          </a:p>
        </p:txBody>
      </p:sp>
      <p:pic>
        <p:nvPicPr>
          <p:cNvPr id="27" name="Рисунок 26"/>
          <p:cNvPicPr>
            <a:picLocks noChangeAspect="1"/>
          </p:cNvPicPr>
          <p:nvPr/>
        </p:nvPicPr>
        <p:blipFill>
          <a:blip r:embed="rId8"/>
          <a:stretch>
            <a:fillRect/>
          </a:stretch>
        </p:blipFill>
        <p:spPr>
          <a:xfrm>
            <a:off x="3496489" y="5747589"/>
            <a:ext cx="1974182" cy="878917"/>
          </a:xfrm>
          <a:prstGeom prst="rect">
            <a:avLst/>
          </a:prstGeom>
        </p:spPr>
      </p:pic>
      <p:cxnSp>
        <p:nvCxnSpPr>
          <p:cNvPr id="4" name="Прямая соединительная линия 3"/>
          <p:cNvCxnSpPr/>
          <p:nvPr/>
        </p:nvCxnSpPr>
        <p:spPr>
          <a:xfrm>
            <a:off x="304800" y="304800"/>
            <a:ext cx="0" cy="2286000"/>
          </a:xfrm>
          <a:prstGeom prst="line">
            <a:avLst/>
          </a:prstGeom>
          <a:ln w="38100"/>
          <a:effectLst/>
        </p:spPr>
        <p:style>
          <a:lnRef idx="2">
            <a:schemeClr val="dk1"/>
          </a:lnRef>
          <a:fillRef idx="0">
            <a:schemeClr val="dk1"/>
          </a:fillRef>
          <a:effectRef idx="1">
            <a:schemeClr val="dk1"/>
          </a:effectRef>
          <a:fontRef idx="minor">
            <a:schemeClr val="tx1"/>
          </a:fontRef>
        </p:style>
      </p:cxnSp>
      <p:sp>
        <p:nvSpPr>
          <p:cNvPr id="7" name="Прямоугольник 6"/>
          <p:cNvSpPr/>
          <p:nvPr/>
        </p:nvSpPr>
        <p:spPr>
          <a:xfrm>
            <a:off x="360768" y="5791200"/>
            <a:ext cx="8468890" cy="835306"/>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4834061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1872482"/>
            <a:ext cx="1673856" cy="830997"/>
          </a:xfrm>
          <a:prstGeom prst="rect">
            <a:avLst/>
          </a:prstGeom>
          <a:noFill/>
        </p:spPr>
        <p:txBody>
          <a:bodyPr wrap="none" rtlCol="0">
            <a:spAutoFit/>
          </a:bodyPr>
          <a:lstStyle/>
          <a:p>
            <a:r>
              <a:rPr lang="en-US" sz="2400" b="1" dirty="0" smtClean="0">
                <a:latin typeface="+mn-lt"/>
              </a:rPr>
              <a:t>Numerical</a:t>
            </a:r>
          </a:p>
          <a:p>
            <a:r>
              <a:rPr lang="en-US" sz="2400" b="1" dirty="0" smtClean="0">
                <a:latin typeface="+mn-lt"/>
              </a:rPr>
              <a:t>Solver:</a:t>
            </a:r>
            <a:endParaRPr lang="ru-RU" sz="2400" b="1" dirty="0">
              <a:latin typeface="+mn-lt"/>
            </a:endParaRPr>
          </a:p>
        </p:txBody>
      </p:sp>
      <p:sp>
        <p:nvSpPr>
          <p:cNvPr id="6" name="TextBox 5"/>
          <p:cNvSpPr txBox="1"/>
          <p:nvPr/>
        </p:nvSpPr>
        <p:spPr>
          <a:xfrm>
            <a:off x="3429000" y="1905000"/>
            <a:ext cx="4718804" cy="1446550"/>
          </a:xfrm>
          <a:prstGeom prst="rect">
            <a:avLst/>
          </a:prstGeom>
          <a:noFill/>
        </p:spPr>
        <p:txBody>
          <a:bodyPr wrap="square" rtlCol="0">
            <a:spAutoFit/>
          </a:bodyPr>
          <a:lstStyle/>
          <a:p>
            <a:r>
              <a:rPr lang="en-US" sz="2200" dirty="0" smtClean="0">
                <a:solidFill>
                  <a:srgbClr val="00B050"/>
                </a:solidFill>
                <a:latin typeface="+mn-lt"/>
              </a:rPr>
              <a:t>(explicit) cheap forward step</a:t>
            </a:r>
          </a:p>
          <a:p>
            <a:r>
              <a:rPr lang="en-US" sz="2200" b="1" dirty="0" smtClean="0">
                <a:solidFill>
                  <a:srgbClr val="FF0000"/>
                </a:solidFill>
                <a:latin typeface="+mn-lt"/>
              </a:rPr>
              <a:t>strong restriction </a:t>
            </a:r>
            <a:r>
              <a:rPr lang="en-US" sz="2200" dirty="0" smtClean="0">
                <a:solidFill>
                  <a:srgbClr val="FF0000"/>
                </a:solidFill>
                <a:latin typeface="+mn-lt"/>
              </a:rPr>
              <a:t>on Courant number = a lot of forward iterations</a:t>
            </a:r>
          </a:p>
          <a:p>
            <a:endParaRPr lang="ru-RU" sz="2200" dirty="0">
              <a:latin typeface="+mn-lt"/>
            </a:endParaRPr>
          </a:p>
        </p:txBody>
      </p:sp>
      <p:sp>
        <p:nvSpPr>
          <p:cNvPr id="11" name="Rectangle 51"/>
          <p:cNvSpPr>
            <a:spLocks noChangeArrowheads="1"/>
          </p:cNvSpPr>
          <p:nvPr/>
        </p:nvSpPr>
        <p:spPr bwMode="auto">
          <a:xfrm>
            <a:off x="545036" y="3623965"/>
            <a:ext cx="8029266" cy="52322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ru-RU" sz="2800" b="1" dirty="0" smtClean="0">
                <a:latin typeface="+mn-lt"/>
                <a:cs typeface="Times New Roman" panose="02020603050405020304" pitchFamily="18" charset="0"/>
              </a:rPr>
              <a:t>Our Main Goal:</a:t>
            </a:r>
            <a:endParaRPr lang="ru-RU" altLang="ru-RU" sz="2800" b="1" dirty="0">
              <a:latin typeface="+mn-lt"/>
              <a:cs typeface="Times New Roman" panose="02020603050405020304" pitchFamily="18" charset="0"/>
            </a:endParaRPr>
          </a:p>
        </p:txBody>
      </p:sp>
      <p:sp>
        <p:nvSpPr>
          <p:cNvPr id="23" name="TextBox 22"/>
          <p:cNvSpPr txBox="1"/>
          <p:nvPr/>
        </p:nvSpPr>
        <p:spPr>
          <a:xfrm>
            <a:off x="914400" y="4388591"/>
            <a:ext cx="2255746" cy="769441"/>
          </a:xfrm>
          <a:prstGeom prst="rect">
            <a:avLst/>
          </a:prstGeom>
          <a:noFill/>
        </p:spPr>
        <p:txBody>
          <a:bodyPr wrap="none" rtlCol="0">
            <a:spAutoFit/>
          </a:bodyPr>
          <a:lstStyle/>
          <a:p>
            <a:r>
              <a:rPr lang="en-US" sz="2200" b="1" dirty="0" smtClean="0">
                <a:latin typeface="+mn-lt"/>
              </a:rPr>
              <a:t>Neural Network</a:t>
            </a:r>
          </a:p>
          <a:p>
            <a:r>
              <a:rPr lang="en-US" sz="2200" b="1" dirty="0" smtClean="0">
                <a:latin typeface="+mn-lt"/>
              </a:rPr>
              <a:t>Solver:</a:t>
            </a:r>
            <a:endParaRPr lang="ru-RU" sz="2200" b="1" dirty="0">
              <a:latin typeface="+mn-lt"/>
            </a:endParaRPr>
          </a:p>
        </p:txBody>
      </p:sp>
      <p:sp>
        <p:nvSpPr>
          <p:cNvPr id="26" name="TextBox 25"/>
          <p:cNvSpPr txBox="1"/>
          <p:nvPr/>
        </p:nvSpPr>
        <p:spPr>
          <a:xfrm>
            <a:off x="3429000" y="4419600"/>
            <a:ext cx="5145302" cy="769441"/>
          </a:xfrm>
          <a:prstGeom prst="rect">
            <a:avLst/>
          </a:prstGeom>
          <a:noFill/>
        </p:spPr>
        <p:txBody>
          <a:bodyPr wrap="square" rtlCol="0">
            <a:spAutoFit/>
          </a:bodyPr>
          <a:lstStyle/>
          <a:p>
            <a:r>
              <a:rPr lang="en-US" sz="2200" dirty="0" smtClean="0">
                <a:solidFill>
                  <a:srgbClr val="00B0F0"/>
                </a:solidFill>
                <a:latin typeface="+mn-lt"/>
              </a:rPr>
              <a:t>(explicit) not so expensive forward step</a:t>
            </a:r>
          </a:p>
          <a:p>
            <a:r>
              <a:rPr lang="en-US" sz="2200" b="1" dirty="0">
                <a:solidFill>
                  <a:srgbClr val="00B050"/>
                </a:solidFill>
                <a:latin typeface="+mn-lt"/>
              </a:rPr>
              <a:t>n</a:t>
            </a:r>
            <a:r>
              <a:rPr lang="en-US" sz="2200" b="1" dirty="0" smtClean="0">
                <a:solidFill>
                  <a:srgbClr val="00B050"/>
                </a:solidFill>
                <a:latin typeface="+mn-lt"/>
              </a:rPr>
              <a:t>o restriction</a:t>
            </a:r>
            <a:r>
              <a:rPr lang="en-US" sz="2200" dirty="0" smtClean="0">
                <a:solidFill>
                  <a:srgbClr val="00B050"/>
                </a:solidFill>
                <a:latin typeface="+mn-lt"/>
              </a:rPr>
              <a:t> on Courant </a:t>
            </a:r>
            <a:r>
              <a:rPr lang="en-US" sz="2200" dirty="0" smtClean="0">
                <a:solidFill>
                  <a:srgbClr val="00B050"/>
                </a:solidFill>
                <a:latin typeface="+mn-lt"/>
              </a:rPr>
              <a:t>number</a:t>
            </a:r>
            <a:endParaRPr lang="en-US" sz="2200" dirty="0" smtClean="0">
              <a:solidFill>
                <a:srgbClr val="00B050"/>
              </a:solidFill>
              <a:latin typeface="+mn-lt"/>
            </a:endParaRPr>
          </a:p>
        </p:txBody>
      </p:sp>
      <p:sp>
        <p:nvSpPr>
          <p:cNvPr id="10" name="Rectangle 51"/>
          <p:cNvSpPr>
            <a:spLocks noChangeArrowheads="1"/>
          </p:cNvSpPr>
          <p:nvPr/>
        </p:nvSpPr>
        <p:spPr bwMode="auto">
          <a:xfrm>
            <a:off x="457200" y="1107856"/>
            <a:ext cx="8029266" cy="52322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ru-RU" sz="2800" b="1" dirty="0" smtClean="0">
                <a:latin typeface="+mn-lt"/>
                <a:cs typeface="Times New Roman" panose="02020603050405020304" pitchFamily="18" charset="0"/>
              </a:rPr>
              <a:t>Traditional solution:</a:t>
            </a:r>
            <a:endParaRPr lang="ru-RU" altLang="ru-RU" sz="2800" b="1" dirty="0">
              <a:latin typeface="+mn-lt"/>
              <a:cs typeface="Times New Roman" panose="02020603050405020304" pitchFamily="18" charset="0"/>
            </a:endParaRPr>
          </a:p>
        </p:txBody>
      </p:sp>
    </p:spTree>
    <p:extLst>
      <p:ext uri="{BB962C8B-B14F-4D97-AF65-F5344CB8AC3E}">
        <p14:creationId xmlns:p14="http://schemas.microsoft.com/office/powerpoint/2010/main" val="27942655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799" y="685800"/>
            <a:ext cx="6858000" cy="461665"/>
          </a:xfrm>
          <a:prstGeom prst="rect">
            <a:avLst/>
          </a:prstGeom>
          <a:noFill/>
        </p:spPr>
        <p:txBody>
          <a:bodyPr wrap="square" rtlCol="0">
            <a:spAutoFit/>
          </a:bodyPr>
          <a:lstStyle/>
          <a:p>
            <a:pPr algn="ctr"/>
            <a:r>
              <a:rPr lang="en-US" sz="2400" b="1" dirty="0" smtClean="0"/>
              <a:t>Base ideas for training procedure:  </a:t>
            </a:r>
            <a:endParaRPr lang="ru-RU" sz="2400" b="1" dirty="0"/>
          </a:p>
        </p:txBody>
      </p:sp>
      <p:sp>
        <p:nvSpPr>
          <p:cNvPr id="2" name="TextBox 1"/>
          <p:cNvSpPr txBox="1"/>
          <p:nvPr/>
        </p:nvSpPr>
        <p:spPr>
          <a:xfrm>
            <a:off x="928155" y="2057400"/>
            <a:ext cx="7135287" cy="3416320"/>
          </a:xfrm>
          <a:prstGeom prst="rect">
            <a:avLst/>
          </a:prstGeom>
          <a:noFill/>
        </p:spPr>
        <p:txBody>
          <a:bodyPr wrap="none" rtlCol="0">
            <a:spAutoFit/>
          </a:bodyPr>
          <a:lstStyle/>
          <a:p>
            <a:pPr marL="342900" indent="-342900">
              <a:buAutoNum type="arabicParenR"/>
            </a:pPr>
            <a:r>
              <a:rPr lang="en-US" dirty="0" smtClean="0"/>
              <a:t>Using </a:t>
            </a:r>
            <a:r>
              <a:rPr lang="en-US" dirty="0" smtClean="0">
                <a:solidFill>
                  <a:srgbClr val="00B050"/>
                </a:solidFill>
              </a:rPr>
              <a:t>at least 2 </a:t>
            </a:r>
            <a:r>
              <a:rPr lang="en-US" dirty="0" smtClean="0"/>
              <a:t>previous field snapshots for forecasting next one</a:t>
            </a:r>
          </a:p>
          <a:p>
            <a:pPr marL="342900" indent="-342900">
              <a:buAutoNum type="arabicParenR"/>
            </a:pPr>
            <a:endParaRPr lang="en-US" dirty="0"/>
          </a:p>
          <a:p>
            <a:pPr marL="342900" indent="-342900">
              <a:buAutoNum type="arabicParenR"/>
            </a:pPr>
            <a:r>
              <a:rPr lang="en-US" dirty="0" smtClean="0"/>
              <a:t>Consider </a:t>
            </a:r>
            <a:r>
              <a:rPr lang="en-US" dirty="0" smtClean="0">
                <a:solidFill>
                  <a:srgbClr val="00B050"/>
                </a:solidFill>
              </a:rPr>
              <a:t>only interior grid nodes </a:t>
            </a:r>
            <a:r>
              <a:rPr lang="en-US" dirty="0" smtClean="0"/>
              <a:t>for training </a:t>
            </a:r>
          </a:p>
          <a:p>
            <a:endParaRPr lang="en-US" dirty="0" smtClean="0"/>
          </a:p>
          <a:p>
            <a:r>
              <a:rPr lang="en-US" dirty="0" smtClean="0"/>
              <a:t>(because boundary conditions doesn’t depend on time </a:t>
            </a:r>
          </a:p>
          <a:p>
            <a:r>
              <a:rPr lang="en-US" dirty="0" smtClean="0"/>
              <a:t>and are described by different model)</a:t>
            </a:r>
          </a:p>
          <a:p>
            <a:endParaRPr lang="en-US" dirty="0"/>
          </a:p>
          <a:p>
            <a:pPr marL="342900" indent="-342900">
              <a:buAutoNum type="arabicParenR" startAt="3"/>
            </a:pPr>
            <a:r>
              <a:rPr lang="en-US" dirty="0" smtClean="0"/>
              <a:t>Using different source wavelet configurations on training.</a:t>
            </a:r>
          </a:p>
          <a:p>
            <a:endParaRPr lang="en-US" dirty="0" smtClean="0"/>
          </a:p>
          <a:p>
            <a:r>
              <a:rPr lang="en-US" dirty="0" smtClean="0"/>
              <a:t>(According to tests in the </a:t>
            </a:r>
            <a:r>
              <a:rPr lang="en-US" i="1" dirty="0" err="1" smtClean="0"/>
              <a:t>TriFlow</a:t>
            </a:r>
            <a:r>
              <a:rPr lang="en-US" dirty="0" smtClean="0"/>
              <a:t> package)</a:t>
            </a:r>
          </a:p>
          <a:p>
            <a:endParaRPr lang="ru-RU" dirty="0"/>
          </a:p>
          <a:p>
            <a:r>
              <a:rPr lang="ru-RU" i="1" dirty="0" smtClean="0"/>
              <a:t>4+) </a:t>
            </a:r>
            <a:r>
              <a:rPr lang="en-US" i="1" dirty="0" smtClean="0"/>
              <a:t>Using image method (geometric interpretation)</a:t>
            </a:r>
            <a:endParaRPr lang="ru-RU" i="1" dirty="0" smtClean="0"/>
          </a:p>
        </p:txBody>
      </p:sp>
    </p:spTree>
    <p:extLst>
      <p:ext uri="{BB962C8B-B14F-4D97-AF65-F5344CB8AC3E}">
        <p14:creationId xmlns:p14="http://schemas.microsoft.com/office/powerpoint/2010/main" val="17090356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62000" y="609600"/>
            <a:ext cx="4703802" cy="463024"/>
          </a:xfrm>
        </p:spPr>
        <p:txBody>
          <a:bodyPr>
            <a:normAutofit fontScale="90000"/>
          </a:bodyPr>
          <a:lstStyle/>
          <a:p>
            <a:pPr algn="l"/>
            <a:r>
              <a:rPr lang="en-US" sz="2700" b="1" dirty="0" smtClean="0"/>
              <a:t>Actual researches</a:t>
            </a:r>
            <a:endParaRPr lang="ru-RU" sz="2700" b="1" dirty="0"/>
          </a:p>
        </p:txBody>
      </p:sp>
      <p:sp>
        <p:nvSpPr>
          <p:cNvPr id="3" name="Подзаголовок 2"/>
          <p:cNvSpPr>
            <a:spLocks noGrp="1"/>
          </p:cNvSpPr>
          <p:nvPr>
            <p:ph type="subTitle" idx="1"/>
          </p:nvPr>
        </p:nvSpPr>
        <p:spPr>
          <a:xfrm>
            <a:off x="762000" y="1371600"/>
            <a:ext cx="6858000" cy="2973225"/>
          </a:xfrm>
        </p:spPr>
        <p:txBody>
          <a:bodyPr>
            <a:normAutofit/>
          </a:bodyPr>
          <a:lstStyle/>
          <a:p>
            <a:pPr marL="257175" indent="-257175" algn="l">
              <a:buFont typeface="Arial" panose="020B0604020202020204" pitchFamily="34" charset="0"/>
              <a:buChar char="•"/>
            </a:pPr>
            <a:r>
              <a:rPr lang="en-US" sz="1500" dirty="0"/>
              <a:t>Comparing recurrent and convolutional neural networks for predicting wave propagation. </a:t>
            </a:r>
            <a:r>
              <a:rPr lang="en-US" sz="1500" dirty="0">
                <a:hlinkClick r:id="rId2"/>
              </a:rPr>
              <a:t>https://arxiv.org/pdf/2002.08981.pdf</a:t>
            </a:r>
            <a:endParaRPr lang="en-US" sz="1500" dirty="0"/>
          </a:p>
          <a:p>
            <a:pPr marL="257175" indent="-257175" algn="l">
              <a:buFont typeface="Arial" panose="020B0604020202020204" pitchFamily="34" charset="0"/>
              <a:buChar char="•"/>
            </a:pPr>
            <a:endParaRPr lang="en-US" sz="1500" dirty="0"/>
          </a:p>
          <a:p>
            <a:pPr marL="257175" indent="-257175" algn="l">
              <a:buFont typeface="Arial" panose="020B0604020202020204" pitchFamily="34" charset="0"/>
              <a:buChar char="•"/>
            </a:pPr>
            <a:r>
              <a:rPr lang="en-US" sz="1500" dirty="0"/>
              <a:t>Approximating the solution to wave propagation using deep neural networks. </a:t>
            </a:r>
            <a:r>
              <a:rPr lang="en-US" sz="1500" dirty="0">
                <a:hlinkClick r:id="rId3"/>
              </a:rPr>
              <a:t>https://arxiv.org/pdf/1812.01609.pdf</a:t>
            </a:r>
            <a:endParaRPr lang="en-US" sz="1500" dirty="0"/>
          </a:p>
        </p:txBody>
      </p:sp>
      <p:pic>
        <p:nvPicPr>
          <p:cNvPr id="4" name="Рисунок 3"/>
          <p:cNvPicPr>
            <a:picLocks noChangeAspect="1"/>
          </p:cNvPicPr>
          <p:nvPr/>
        </p:nvPicPr>
        <p:blipFill>
          <a:blip r:embed="rId4"/>
          <a:stretch>
            <a:fillRect/>
          </a:stretch>
        </p:blipFill>
        <p:spPr>
          <a:xfrm>
            <a:off x="1198603" y="2858212"/>
            <a:ext cx="6485817" cy="1927871"/>
          </a:xfrm>
          <a:prstGeom prst="rect">
            <a:avLst/>
          </a:prstGeom>
        </p:spPr>
      </p:pic>
    </p:spTree>
    <p:extLst>
      <p:ext uri="{BB962C8B-B14F-4D97-AF65-F5344CB8AC3E}">
        <p14:creationId xmlns:p14="http://schemas.microsoft.com/office/powerpoint/2010/main" val="15269747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82598" y="609600"/>
            <a:ext cx="4703802" cy="463024"/>
          </a:xfrm>
        </p:spPr>
        <p:txBody>
          <a:bodyPr>
            <a:normAutofit fontScale="90000"/>
          </a:bodyPr>
          <a:lstStyle/>
          <a:p>
            <a:pPr algn="l"/>
            <a:r>
              <a:rPr lang="en-US" sz="2700" b="1" dirty="0" smtClean="0"/>
              <a:t>Actual researches</a:t>
            </a:r>
            <a:endParaRPr lang="ru-RU" sz="2700" b="1" dirty="0"/>
          </a:p>
        </p:txBody>
      </p:sp>
      <p:pic>
        <p:nvPicPr>
          <p:cNvPr id="5" name="Рисунок 4"/>
          <p:cNvPicPr>
            <a:picLocks noChangeAspect="1"/>
          </p:cNvPicPr>
          <p:nvPr/>
        </p:nvPicPr>
        <p:blipFill>
          <a:blip r:embed="rId2"/>
          <a:stretch>
            <a:fillRect/>
          </a:stretch>
        </p:blipFill>
        <p:spPr>
          <a:xfrm>
            <a:off x="2590800" y="1207985"/>
            <a:ext cx="5264982" cy="2536031"/>
          </a:xfrm>
          <a:prstGeom prst="rect">
            <a:avLst/>
          </a:prstGeom>
        </p:spPr>
      </p:pic>
      <p:pic>
        <p:nvPicPr>
          <p:cNvPr id="6" name="Рисунок 5"/>
          <p:cNvPicPr>
            <a:picLocks noChangeAspect="1"/>
          </p:cNvPicPr>
          <p:nvPr/>
        </p:nvPicPr>
        <p:blipFill>
          <a:blip r:embed="rId3"/>
          <a:stretch>
            <a:fillRect/>
          </a:stretch>
        </p:blipFill>
        <p:spPr>
          <a:xfrm>
            <a:off x="2822991" y="4191000"/>
            <a:ext cx="4800600" cy="1860395"/>
          </a:xfrm>
          <a:prstGeom prst="rect">
            <a:avLst/>
          </a:prstGeom>
        </p:spPr>
      </p:pic>
      <p:sp>
        <p:nvSpPr>
          <p:cNvPr id="7" name="TextBox 6"/>
          <p:cNvSpPr txBox="1"/>
          <p:nvPr/>
        </p:nvSpPr>
        <p:spPr>
          <a:xfrm>
            <a:off x="574528" y="2291334"/>
            <a:ext cx="1685077" cy="369332"/>
          </a:xfrm>
          <a:prstGeom prst="rect">
            <a:avLst/>
          </a:prstGeom>
          <a:noFill/>
        </p:spPr>
        <p:txBody>
          <a:bodyPr wrap="none" rtlCol="0">
            <a:spAutoFit/>
          </a:bodyPr>
          <a:lstStyle/>
          <a:p>
            <a:r>
              <a:rPr lang="en-US" dirty="0" err="1" smtClean="0"/>
              <a:t>EncDec</a:t>
            </a:r>
            <a:r>
              <a:rPr lang="en-US" dirty="0"/>
              <a:t>-</a:t>
            </a:r>
            <a:r>
              <a:rPr lang="en-US" dirty="0" smtClean="0"/>
              <a:t>LSTM</a:t>
            </a:r>
            <a:endParaRPr lang="ru-RU" dirty="0"/>
          </a:p>
        </p:txBody>
      </p:sp>
      <p:sp>
        <p:nvSpPr>
          <p:cNvPr id="9" name="TextBox 8"/>
          <p:cNvSpPr txBox="1"/>
          <p:nvPr/>
        </p:nvSpPr>
        <p:spPr>
          <a:xfrm>
            <a:off x="747653" y="5121197"/>
            <a:ext cx="1338828" cy="369332"/>
          </a:xfrm>
          <a:prstGeom prst="rect">
            <a:avLst/>
          </a:prstGeom>
          <a:noFill/>
        </p:spPr>
        <p:txBody>
          <a:bodyPr wrap="none" rtlCol="0">
            <a:spAutoFit/>
          </a:bodyPr>
          <a:lstStyle/>
          <a:p>
            <a:r>
              <a:rPr lang="en-US" dirty="0" err="1" smtClean="0"/>
              <a:t>ConvLSTM</a:t>
            </a:r>
            <a:endParaRPr lang="ru-RU" dirty="0"/>
          </a:p>
        </p:txBody>
      </p:sp>
    </p:spTree>
    <p:extLst>
      <p:ext uri="{BB962C8B-B14F-4D97-AF65-F5344CB8AC3E}">
        <p14:creationId xmlns:p14="http://schemas.microsoft.com/office/powerpoint/2010/main" val="998848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82598" y="609600"/>
            <a:ext cx="4703802" cy="463024"/>
          </a:xfrm>
        </p:spPr>
        <p:txBody>
          <a:bodyPr>
            <a:normAutofit fontScale="90000"/>
          </a:bodyPr>
          <a:lstStyle/>
          <a:p>
            <a:pPr algn="l"/>
            <a:r>
              <a:rPr lang="en-US" sz="2700" b="1" dirty="0" smtClean="0"/>
              <a:t>Actual researches</a:t>
            </a:r>
            <a:endParaRPr lang="ru-RU" sz="2700" b="1" dirty="0"/>
          </a:p>
        </p:txBody>
      </p:sp>
      <p:sp>
        <p:nvSpPr>
          <p:cNvPr id="7" name="TextBox 6"/>
          <p:cNvSpPr txBox="1"/>
          <p:nvPr/>
        </p:nvSpPr>
        <p:spPr>
          <a:xfrm>
            <a:off x="574528" y="2291334"/>
            <a:ext cx="1441420" cy="369332"/>
          </a:xfrm>
          <a:prstGeom prst="rect">
            <a:avLst/>
          </a:prstGeom>
          <a:noFill/>
        </p:spPr>
        <p:txBody>
          <a:bodyPr wrap="none" rtlCol="0">
            <a:spAutoFit/>
          </a:bodyPr>
          <a:lstStyle/>
          <a:p>
            <a:r>
              <a:rPr lang="en-US" dirty="0" err="1" smtClean="0"/>
              <a:t>PredRNN</a:t>
            </a:r>
            <a:r>
              <a:rPr lang="en-US" dirty="0" smtClean="0"/>
              <a:t>++</a:t>
            </a:r>
            <a:endParaRPr lang="ru-RU" dirty="0"/>
          </a:p>
        </p:txBody>
      </p:sp>
      <p:sp>
        <p:nvSpPr>
          <p:cNvPr id="9" name="TextBox 8"/>
          <p:cNvSpPr txBox="1"/>
          <p:nvPr/>
        </p:nvSpPr>
        <p:spPr>
          <a:xfrm>
            <a:off x="747653" y="5121197"/>
            <a:ext cx="787395" cy="369332"/>
          </a:xfrm>
          <a:prstGeom prst="rect">
            <a:avLst/>
          </a:prstGeom>
          <a:noFill/>
        </p:spPr>
        <p:txBody>
          <a:bodyPr wrap="none" rtlCol="0">
            <a:spAutoFit/>
          </a:bodyPr>
          <a:lstStyle/>
          <a:p>
            <a:r>
              <a:rPr lang="en-US" dirty="0" smtClean="0"/>
              <a:t>U-Net</a:t>
            </a:r>
            <a:endParaRPr lang="ru-RU" dirty="0"/>
          </a:p>
        </p:txBody>
      </p:sp>
      <p:pic>
        <p:nvPicPr>
          <p:cNvPr id="3" name="Рисунок 2"/>
          <p:cNvPicPr>
            <a:picLocks noChangeAspect="1"/>
          </p:cNvPicPr>
          <p:nvPr/>
        </p:nvPicPr>
        <p:blipFill>
          <a:blip r:embed="rId2"/>
          <a:stretch>
            <a:fillRect/>
          </a:stretch>
        </p:blipFill>
        <p:spPr>
          <a:xfrm>
            <a:off x="2961831" y="1524000"/>
            <a:ext cx="4685490" cy="1981200"/>
          </a:xfrm>
          <a:prstGeom prst="rect">
            <a:avLst/>
          </a:prstGeom>
        </p:spPr>
      </p:pic>
      <p:pic>
        <p:nvPicPr>
          <p:cNvPr id="4" name="Рисунок 3"/>
          <p:cNvPicPr>
            <a:picLocks noChangeAspect="1"/>
          </p:cNvPicPr>
          <p:nvPr/>
        </p:nvPicPr>
        <p:blipFill>
          <a:blip r:embed="rId3"/>
          <a:stretch>
            <a:fillRect/>
          </a:stretch>
        </p:blipFill>
        <p:spPr>
          <a:xfrm>
            <a:off x="2325632" y="3810000"/>
            <a:ext cx="5957887" cy="2177766"/>
          </a:xfrm>
          <a:prstGeom prst="rect">
            <a:avLst/>
          </a:prstGeom>
        </p:spPr>
      </p:pic>
    </p:spTree>
    <p:extLst>
      <p:ext uri="{BB962C8B-B14F-4D97-AF65-F5344CB8AC3E}">
        <p14:creationId xmlns:p14="http://schemas.microsoft.com/office/powerpoint/2010/main" val="27253021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684" y="394772"/>
            <a:ext cx="4266716" cy="411162"/>
          </a:xfrm>
        </p:spPr>
        <p:txBody>
          <a:bodyPr/>
          <a:lstStyle/>
          <a:p>
            <a:pPr algn="l"/>
            <a:r>
              <a:rPr lang="en-US" sz="2400" b="1" dirty="0" smtClean="0"/>
              <a:t>Spiking Neural Networks</a:t>
            </a:r>
            <a:endParaRPr lang="ru-RU" sz="2400" b="1" dirty="0"/>
          </a:p>
        </p:txBody>
      </p:sp>
      <p:sp>
        <p:nvSpPr>
          <p:cNvPr id="4" name="Прямоугольник 3"/>
          <p:cNvSpPr/>
          <p:nvPr/>
        </p:nvSpPr>
        <p:spPr>
          <a:xfrm>
            <a:off x="685800" y="1359932"/>
            <a:ext cx="7544284" cy="2800767"/>
          </a:xfrm>
          <a:prstGeom prst="rect">
            <a:avLst/>
          </a:prstGeom>
        </p:spPr>
        <p:txBody>
          <a:bodyPr wrap="square">
            <a:spAutoFit/>
          </a:bodyPr>
          <a:lstStyle/>
          <a:p>
            <a:r>
              <a:rPr lang="en-US" sz="1600" b="1" i="1" dirty="0"/>
              <a:t>Spiking neural networks</a:t>
            </a:r>
            <a:r>
              <a:rPr lang="en-US" sz="1600" i="1" dirty="0"/>
              <a:t> (</a:t>
            </a:r>
            <a:r>
              <a:rPr lang="en-US" sz="1600" b="1" i="1" dirty="0"/>
              <a:t>SNNs</a:t>
            </a:r>
            <a:r>
              <a:rPr lang="en-US" sz="1600" i="1" dirty="0"/>
              <a:t>) are artificial neural networks that more closely mimic natural neural networks</a:t>
            </a:r>
            <a:r>
              <a:rPr lang="en-US" sz="1600" i="1" dirty="0" smtClean="0"/>
              <a:t>.</a:t>
            </a:r>
            <a:r>
              <a:rPr lang="en-US" sz="1600" i="1" dirty="0"/>
              <a:t> In addition to neuronal and synaptic state, SNNs incorporate the concept of time into their operating model. The idea is that neurons in the SNN do not transmit information at each propagation cycle (as it happens with typical multi-layer perceptron networks), but rather transmit information only when a membrane potential – an intrinsic quality of the neuron related to its membrane electrical charge – reaches a specific value, called the threshold. When the membrane potential reaches the threshold, the neuron fires, and generates a signal that travels to other neurons which, in turn, increase or decrease their potentials in response to this signal. A neuron model that fires at the moment of threshold crossing is also called a spiking neuron model</a:t>
            </a:r>
            <a:r>
              <a:rPr lang="en-US" sz="1600" i="1" dirty="0" smtClean="0"/>
              <a:t>.</a:t>
            </a:r>
            <a:endParaRPr lang="ru-RU" sz="1600" i="1" dirty="0"/>
          </a:p>
        </p:txBody>
      </p:sp>
      <p:sp>
        <p:nvSpPr>
          <p:cNvPr id="5" name="TextBox 4"/>
          <p:cNvSpPr txBox="1"/>
          <p:nvPr/>
        </p:nvSpPr>
        <p:spPr>
          <a:xfrm>
            <a:off x="457684" y="990600"/>
            <a:ext cx="1977977" cy="369332"/>
          </a:xfrm>
          <a:prstGeom prst="rect">
            <a:avLst/>
          </a:prstGeom>
          <a:noFill/>
        </p:spPr>
        <p:txBody>
          <a:bodyPr wrap="none" rtlCol="0">
            <a:spAutoFit/>
          </a:bodyPr>
          <a:lstStyle/>
          <a:p>
            <a:r>
              <a:rPr lang="en-US" b="1" dirty="0" smtClean="0"/>
              <a:t>From Wikipedia:</a:t>
            </a:r>
            <a:endParaRPr lang="ru-RU" b="1" dirty="0"/>
          </a:p>
        </p:txBody>
      </p:sp>
      <p:pic>
        <p:nvPicPr>
          <p:cNvPr id="1026" name="Picture 2" descr="Spiking Neural Networks — A More Brain-like AI | by Frederik Bussler |  bitgrit Data Science Publication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114" y="4495800"/>
            <a:ext cx="5173656" cy="1929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765544"/>
      </p:ext>
    </p:extLst>
  </p:cSld>
  <p:clrMapOvr>
    <a:masterClrMapping/>
  </p:clrMapOvr>
  <p:timing>
    <p:tnLst>
      <p:par>
        <p:cTn id="1" dur="indefinite" restart="never" nodeType="tmRoot"/>
      </p:par>
    </p:tnLst>
  </p:timing>
</p:sld>
</file>

<file path=ppt/theme/theme1.xml><?xml version="1.0" encoding="utf-8"?>
<a:theme xmlns:a="http://schemas.openxmlformats.org/drawingml/2006/main" name="Оформление по умолчанию">
  <a:themeElements>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Оформление по умолчанию">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Оформление по умолчанию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Оформление по умолчанию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Оформление по умолчанию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Оформление по умолчанию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Оформление по умолчанию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Оформление по умолчанию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Оформление по умолчанию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13015818</TotalTime>
  <Words>291</Words>
  <Application>Microsoft Office PowerPoint</Application>
  <PresentationFormat>Экран (4:3)</PresentationFormat>
  <Paragraphs>63</Paragraphs>
  <Slides>8</Slides>
  <Notes>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8</vt:i4>
      </vt:variant>
    </vt:vector>
  </HeadingPairs>
  <TitlesOfParts>
    <vt:vector size="13" baseType="lpstr">
      <vt:lpstr>Arial</vt:lpstr>
      <vt:lpstr>Calibri</vt:lpstr>
      <vt:lpstr>Cambria Math</vt:lpstr>
      <vt:lpstr>Times New Roman</vt:lpstr>
      <vt:lpstr>Оформление по умолчанию</vt:lpstr>
      <vt:lpstr>SPEEDING UP WAVE PROPAGATION MODEL</vt:lpstr>
      <vt:lpstr>Презентация PowerPoint</vt:lpstr>
      <vt:lpstr>Презентация PowerPoint</vt:lpstr>
      <vt:lpstr>Презентация PowerPoint</vt:lpstr>
      <vt:lpstr>Actual researches</vt:lpstr>
      <vt:lpstr>Actual researches</vt:lpstr>
      <vt:lpstr>Actual researches</vt:lpstr>
      <vt:lpstr>Spiking Neural Networks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Yuri</dc:creator>
  <cp:lastModifiedBy>Danil Sayranov</cp:lastModifiedBy>
  <cp:revision>499</cp:revision>
  <cp:lastPrinted>2019-08-13T11:23:04Z</cp:lastPrinted>
  <dcterms:created xsi:type="dcterms:W3CDTF">1601-01-01T00:00:00Z</dcterms:created>
  <dcterms:modified xsi:type="dcterms:W3CDTF">2020-11-22T10:35:50Z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